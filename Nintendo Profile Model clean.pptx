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notesMasterIdLst>
    <p:notesMasterId r:id="rId4"/>
  </p:notesMasterIdLst>
  <p:sldIdLst>
    <p:sldId id="1029" r:id="rId2"/>
    <p:sldId id="1262" r:id="rId3"/>
  </p:sldIdLst>
  <p:sldSz cx="9144000" cy="6858000" type="letter"/>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ED8B07-03EF-70FA-5E05-AF70688D4DE8}" name="Stephanie Rodgers" initials="SR" userId="db26bc80bab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808080"/>
    <a:srgbClr val="2A3647"/>
    <a:srgbClr val="002060"/>
    <a:srgbClr val="03B1F0"/>
    <a:srgbClr val="CD1575"/>
    <a:srgbClr val="303F52"/>
    <a:srgbClr val="3B731F"/>
    <a:srgbClr val="A6A6A6"/>
    <a:srgbClr val="1DB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6826" autoAdjust="0"/>
    <p:restoredTop sz="96366" autoAdjust="0"/>
  </p:normalViewPr>
  <p:slideViewPr>
    <p:cSldViewPr snapToGrid="0">
      <p:cViewPr>
        <p:scale>
          <a:sx n="118" d="100"/>
          <a:sy n="118" d="100"/>
        </p:scale>
        <p:origin x="2496" y="448"/>
      </p:cViewPr>
      <p:guideLst/>
    </p:cSldViewPr>
  </p:slideViewPr>
  <p:outlineViewPr>
    <p:cViewPr>
      <p:scale>
        <a:sx n="33" d="100"/>
        <a:sy n="33" d="100"/>
      </p:scale>
      <p:origin x="0" y="0"/>
    </p:cViewPr>
  </p:outlin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343" cy="467071"/>
          </a:xfrm>
          <a:prstGeom prst="rect">
            <a:avLst/>
          </a:prstGeom>
        </p:spPr>
        <p:txBody>
          <a:bodyPr vert="horz" lIns="93293" tIns="46647" rIns="93293" bIns="46647" rtlCol="0"/>
          <a:lstStyle>
            <a:lvl1pPr algn="l">
              <a:defRPr sz="1200"/>
            </a:lvl1pPr>
          </a:lstStyle>
          <a:p>
            <a:endParaRPr lang="en-US" dirty="0"/>
          </a:p>
        </p:txBody>
      </p:sp>
      <p:sp>
        <p:nvSpPr>
          <p:cNvPr id="3" name="Date Placeholder 2"/>
          <p:cNvSpPr>
            <a:spLocks noGrp="1"/>
          </p:cNvSpPr>
          <p:nvPr>
            <p:ph type="dt" idx="1"/>
          </p:nvPr>
        </p:nvSpPr>
        <p:spPr>
          <a:xfrm>
            <a:off x="3978133" y="0"/>
            <a:ext cx="3043343" cy="467071"/>
          </a:xfrm>
          <a:prstGeom prst="rect">
            <a:avLst/>
          </a:prstGeom>
        </p:spPr>
        <p:txBody>
          <a:bodyPr vert="horz" lIns="93293" tIns="46647" rIns="93293" bIns="46647" rtlCol="0"/>
          <a:lstStyle>
            <a:lvl1pPr algn="r">
              <a:defRPr sz="1200"/>
            </a:lvl1pPr>
          </a:lstStyle>
          <a:p>
            <a:fld id="{59F099CF-6E90-4C14-AACD-FEA21303BCE2}" type="datetimeFigureOut">
              <a:rPr lang="en-US" smtClean="0"/>
              <a:t>2/14/26</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3" tIns="46647" rIns="93293" bIns="46647" rtlCol="0" anchor="ctr"/>
          <a:lstStyle/>
          <a:p>
            <a:endParaRPr lang="en-US" dirty="0"/>
          </a:p>
        </p:txBody>
      </p:sp>
      <p:sp>
        <p:nvSpPr>
          <p:cNvPr id="5" name="Notes Placeholder 4"/>
          <p:cNvSpPr>
            <a:spLocks noGrp="1"/>
          </p:cNvSpPr>
          <p:nvPr>
            <p:ph type="body" sz="quarter" idx="3"/>
          </p:nvPr>
        </p:nvSpPr>
        <p:spPr>
          <a:xfrm>
            <a:off x="702311" y="4480006"/>
            <a:ext cx="5618480" cy="3665459"/>
          </a:xfrm>
          <a:prstGeom prst="rect">
            <a:avLst/>
          </a:prstGeom>
        </p:spPr>
        <p:txBody>
          <a:bodyPr vert="horz" lIns="93293" tIns="46647" rIns="93293"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1"/>
            <a:ext cx="3043343" cy="467070"/>
          </a:xfrm>
          <a:prstGeom prst="rect">
            <a:avLst/>
          </a:prstGeom>
        </p:spPr>
        <p:txBody>
          <a:bodyPr vert="horz" lIns="93293" tIns="46647" rIns="93293" bIns="466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1"/>
            <a:ext cx="3043343" cy="467070"/>
          </a:xfrm>
          <a:prstGeom prst="rect">
            <a:avLst/>
          </a:prstGeom>
        </p:spPr>
        <p:txBody>
          <a:bodyPr vert="horz" lIns="93293" tIns="46647" rIns="93293" bIns="46647" rtlCol="0" anchor="b"/>
          <a:lstStyle>
            <a:lvl1pPr algn="r">
              <a:defRPr sz="1200"/>
            </a:lvl1pPr>
          </a:lstStyle>
          <a:p>
            <a:fld id="{E262F593-AD9B-4352-A2D4-D77C9B23497F}" type="slidenum">
              <a:rPr lang="en-US" smtClean="0"/>
              <a:t>‹#›</a:t>
            </a:fld>
            <a:endParaRPr lang="en-US" dirty="0"/>
          </a:p>
        </p:txBody>
      </p:sp>
    </p:spTree>
    <p:extLst>
      <p:ext uri="{BB962C8B-B14F-4D97-AF65-F5344CB8AC3E}">
        <p14:creationId xmlns:p14="http://schemas.microsoft.com/office/powerpoint/2010/main" val="94477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strategic acquisition of Octane Fitness, which emphasizes core competencies in specialty retail and international distribution channels, is complementary to Nautilus’ strengths in the direct-to-consumer and mass merchant retail sales, however, an acquisition of Pivotal 5 would further enhance </a:t>
            </a:r>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80205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262F593-AD9B-4352-A2D4-D77C9B23497F}" type="slidenum">
              <a:rPr lang="en-US" smtClean="0"/>
              <a:t>2</a:t>
            </a:fld>
            <a:endParaRPr lang="en-US" dirty="0"/>
          </a:p>
        </p:txBody>
      </p:sp>
    </p:spTree>
    <p:extLst>
      <p:ext uri="{BB962C8B-B14F-4D97-AF65-F5344CB8AC3E}">
        <p14:creationId xmlns:p14="http://schemas.microsoft.com/office/powerpoint/2010/main" val="120651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1" kern="1200" cap="all"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a:xfrm>
            <a:off x="457200" y="6384244"/>
            <a:ext cx="8229600" cy="182562"/>
          </a:xfrm>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57200" y="914400"/>
            <a:ext cx="8229600" cy="1125583"/>
          </a:xfrm>
          <a:prstGeom prst="rect">
            <a:avLst/>
          </a:prstGeom>
        </p:spPr>
        <p:txBody>
          <a:bodyPr/>
          <a:lstStyle>
            <a:lvl1pPr marL="0" indent="0" algn="just" defTabSz="914400" rtl="0" eaLnBrk="1" fontAlgn="base" latinLnBrk="0" hangingPunct="1">
              <a:lnSpc>
                <a:spcPct val="114000"/>
              </a:lnSpc>
              <a:spcBef>
                <a:spcPts val="300"/>
              </a:spcBef>
              <a:spcAft>
                <a:spcPts val="300"/>
              </a:spcAft>
              <a:buClrTx/>
              <a:buSzPct val="100000"/>
              <a:buFont typeface="Wingdings" pitchFamily="2" charset="2"/>
              <a:buNone/>
              <a:defRPr lang="en-US" sz="1000" b="1" kern="1200" dirty="0" smtClean="0">
                <a:solidFill>
                  <a:schemeClr val="tx1"/>
                </a:solidFill>
                <a:latin typeface="+mn-lt"/>
                <a:ea typeface="Roboto Lt" pitchFamily="2" charset="0"/>
                <a:cs typeface="Helvetica" panose="020B0604020202020204" pitchFamily="34" charset="0"/>
              </a:defRPr>
            </a:lvl1pPr>
            <a:lvl2pPr marL="410779" indent="-204794" algn="just">
              <a:spcAft>
                <a:spcPts val="300"/>
              </a:spcAft>
              <a:buClrTx/>
              <a:buSzPct val="100000"/>
              <a:buFont typeface="Courier New" panose="02070309020205020404" pitchFamily="49" charset="0"/>
              <a:buChar char="o"/>
              <a:defRPr lang="en-US" sz="950" kern="1200" dirty="0" smtClean="0">
                <a:solidFill>
                  <a:schemeClr val="tx1"/>
                </a:solidFill>
                <a:latin typeface="+mn-lt"/>
                <a:ea typeface="+mn-ea"/>
                <a:cs typeface="+mn-cs"/>
              </a:defRPr>
            </a:lvl2pPr>
            <a:lvl3pPr marL="616763" indent="-171456" algn="just">
              <a:spcAft>
                <a:spcPts val="300"/>
              </a:spcAft>
              <a:buFont typeface="Courier New" panose="02070309020205020404" pitchFamily="49" charset="0"/>
              <a:buChar char="o"/>
              <a:defRPr lang="en-US" sz="900"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297073" y="6556375"/>
            <a:ext cx="549853"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90180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6" name="Rectangle 5"/>
          <p:cNvSpPr>
            <a:spLocks noChangeArrowheads="1"/>
          </p:cNvSpPr>
          <p:nvPr userDrawn="1"/>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14" name="Picture 4">
            <a:extLst>
              <a:ext uri="{FF2B5EF4-FFF2-40B4-BE49-F238E27FC236}">
                <a16:creationId xmlns:a16="http://schemas.microsoft.com/office/drawing/2014/main" id="{3A55EE3D-15BB-427A-83D4-3C555B1D7A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02415" y="260918"/>
            <a:ext cx="1196954" cy="32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98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6" name="Slide Number Placeholder 22"/>
          <p:cNvSpPr>
            <a:spLocks noGrp="1"/>
          </p:cNvSpPr>
          <p:nvPr>
            <p:ph type="sldNum" sz="quarter" idx="4"/>
          </p:nvPr>
        </p:nvSpPr>
        <p:spPr>
          <a:xfrm>
            <a:off x="4036219"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911352"/>
            <a:ext cx="8531352" cy="5337048"/>
          </a:xfrm>
          <a:prstGeom prst="rect">
            <a:avLst/>
          </a:prstGeom>
        </p:spPr>
        <p:txBody>
          <a:bodyPr/>
          <a:lstStyle>
            <a:lvl1pPr algn="just">
              <a:buClrTx/>
              <a:defRPr lang="en-US" sz="1050" kern="1200" dirty="0" smtClean="0">
                <a:solidFill>
                  <a:schemeClr val="tx1"/>
                </a:solidFill>
                <a:latin typeface="+mn-lt"/>
                <a:ea typeface="+mn-ea"/>
                <a:cs typeface="+mn-cs"/>
              </a:defRPr>
            </a:lvl1pPr>
            <a:lvl2pPr algn="just">
              <a:buClrTx/>
              <a:buFont typeface="Wingdings" pitchFamily="2" charset="2"/>
              <a:buChar char="q"/>
              <a:defRPr lang="en-US" sz="950" kern="1200" dirty="0" smtClean="0">
                <a:solidFill>
                  <a:schemeClr val="tx1"/>
                </a:solidFill>
                <a:latin typeface="+mn-lt"/>
                <a:ea typeface="+mn-ea"/>
                <a:cs typeface="+mn-cs"/>
              </a:defRPr>
            </a:lvl2pPr>
            <a:lvl3pPr algn="just">
              <a:buClrTx/>
              <a:buFont typeface="Wingdings" pitchFamily="2" charset="2"/>
              <a:buChar char="q"/>
              <a:defRPr lang="en-US" sz="95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just" rtl="0" eaLnBrk="1" fontAlgn="base" hangingPunct="1">
              <a:lnSpc>
                <a:spcPct val="114000"/>
              </a:lnSpc>
              <a:spcBef>
                <a:spcPts val="300"/>
              </a:spcBef>
              <a:spcAft>
                <a:spcPts val="300"/>
              </a:spcAft>
              <a:buClrTx/>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
        <p:nvSpPr>
          <p:cNvPr id="7" name="TextBox 6"/>
          <p:cNvSpPr txBox="1"/>
          <p:nvPr userDrawn="1"/>
        </p:nvSpPr>
        <p:spPr>
          <a:xfrm>
            <a:off x="-1066800" y="304800"/>
            <a:ext cx="9144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653024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13"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6" name="Picture 5" descr="Text, logo&#10;&#10;Description automatically generated">
            <a:extLst>
              <a:ext uri="{FF2B5EF4-FFF2-40B4-BE49-F238E27FC236}">
                <a16:creationId xmlns:a16="http://schemas.microsoft.com/office/drawing/2014/main" id="{146F02E6-416A-BC5D-D33C-7AB17E376F6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074634" y="-904401"/>
            <a:ext cx="3180397" cy="3180397"/>
          </a:xfrm>
          <a:prstGeom prst="rect">
            <a:avLst/>
          </a:prstGeom>
        </p:spPr>
      </p:pic>
    </p:spTree>
    <p:extLst>
      <p:ext uri="{BB962C8B-B14F-4D97-AF65-F5344CB8AC3E}">
        <p14:creationId xmlns:p14="http://schemas.microsoft.com/office/powerpoint/2010/main" val="686480307"/>
      </p:ext>
    </p:extLst>
  </p:cSld>
  <p:clrMap bg1="lt1" tx1="dk1" bg2="lt2" tx2="dk2" accent1="accent1" accent2="accent2" accent3="accent3" accent4="accent4" accent5="accent5" accent6="accent6" hlink="hlink" folHlink="folHlink"/>
  <p:sldLayoutIdLst>
    <p:sldLayoutId id="2147483813" r:id="rId1"/>
    <p:sldLayoutId id="2147484331" r:id="rId2"/>
    <p:sldLayoutId id="2147484332" r:id="rId3"/>
  </p:sldLayoutIdLst>
  <p:txStyles>
    <p:titleStyle>
      <a:lvl1pPr marL="0" algn="l" defTabSz="914400" rtl="0" eaLnBrk="1" fontAlgn="base" latinLnBrk="0" hangingPunct="1">
        <a:spcBef>
          <a:spcPct val="0"/>
        </a:spcBef>
        <a:spcAft>
          <a:spcPct val="0"/>
        </a:spcAft>
        <a:defRPr lang="en-US" sz="1500" b="0" kern="1200" cap="all" baseline="0" dirty="0" smtClean="0">
          <a:solidFill>
            <a:schemeClr val="tx1"/>
          </a:solidFill>
          <a:latin typeface="+mn-lt"/>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BDE1C34-4C1F-0F76-7914-30AE355BAF2F}"/>
              </a:ext>
            </a:extLst>
          </p:cNvPr>
          <p:cNvSpPr>
            <a:spLocks noGrp="1"/>
          </p:cNvSpPr>
          <p:nvPr>
            <p:ph type="title"/>
          </p:nvPr>
        </p:nvSpPr>
        <p:spPr/>
        <p:txBody>
          <a:bodyPr/>
          <a:lstStyle/>
          <a:p>
            <a:r>
              <a:rPr lang="en-GB" sz="1800" dirty="0">
                <a:latin typeface="Arial" panose="020B0604020202020204" pitchFamily="34" charset="0"/>
                <a:cs typeface="Arial" panose="020B0604020202020204" pitchFamily="34" charset="0"/>
              </a:rPr>
              <a:t>Nintendo | </a:t>
            </a:r>
            <a:r>
              <a:rPr lang="en-GB" sz="1800" b="0" dirty="0">
                <a:latin typeface="Arial" panose="020B0604020202020204" pitchFamily="34" charset="0"/>
                <a:cs typeface="Arial" panose="020B0604020202020204" pitchFamily="34" charset="0"/>
              </a:rPr>
              <a:t>Company profile</a:t>
            </a:r>
            <a:endParaRPr lang="en-US" sz="1800" dirty="0"/>
          </a:p>
        </p:txBody>
      </p:sp>
      <p:sp>
        <p:nvSpPr>
          <p:cNvPr id="4" name="TextBox 3">
            <a:extLst>
              <a:ext uri="{FF2B5EF4-FFF2-40B4-BE49-F238E27FC236}">
                <a16:creationId xmlns:a16="http://schemas.microsoft.com/office/drawing/2014/main" id="{0AAE8A2C-7C01-0299-C59D-F0B18C1A880F}"/>
              </a:ext>
            </a:extLst>
          </p:cNvPr>
          <p:cNvSpPr txBox="1"/>
          <p:nvPr/>
        </p:nvSpPr>
        <p:spPr>
          <a:xfrm>
            <a:off x="4606003" y="633656"/>
            <a:ext cx="4579619" cy="2446824"/>
          </a:xfrm>
          <a:prstGeom prst="rect">
            <a:avLst/>
          </a:prstGeom>
          <a:noFill/>
        </p:spPr>
        <p:txBody>
          <a:bodyPr wrap="square" rtlCol="0">
            <a:spAutoFit/>
          </a:bodyPr>
          <a:lstStyle/>
          <a:p>
            <a:r>
              <a:rPr lang="en-US" sz="1400" b="1" dirty="0"/>
              <a:t>Overview.</a:t>
            </a:r>
          </a:p>
          <a:p>
            <a:r>
              <a:rPr lang="en-US" sz="1200" b="1" dirty="0" err="1"/>
              <a:t>Bussiness</a:t>
            </a:r>
            <a:r>
              <a:rPr lang="en-US" sz="1200" b="1" dirty="0"/>
              <a:t>-Develops Nintendo switch hardware </a:t>
            </a:r>
            <a:r>
              <a:rPr lang="en-IN" sz="1200" dirty="0"/>
              <a:t>and software creating family-friendly entertainment experiences for global audiences</a:t>
            </a:r>
            <a:r>
              <a:rPr lang="en-US" sz="1200" b="1" dirty="0"/>
              <a:t> .</a:t>
            </a:r>
          </a:p>
          <a:p>
            <a:r>
              <a:rPr lang="en-IN" sz="1200" b="1" dirty="0"/>
              <a:t>Market Position:</a:t>
            </a:r>
            <a:r>
              <a:rPr lang="en-IN" sz="1200" dirty="0"/>
              <a:t> Leading video game company with iconic franchises (Mario, Zelda, Pokémon) and unique integrated platform strategy.</a:t>
            </a:r>
          </a:p>
          <a:p>
            <a:r>
              <a:rPr lang="en-IN" sz="1200" b="1" dirty="0"/>
              <a:t>Products:</a:t>
            </a:r>
            <a:r>
              <a:rPr lang="en-IN" sz="1200" dirty="0"/>
              <a:t> Nintendo Switch systems, 230+ million software units sold (FY2021), digital services, mobile apps, and accessories.</a:t>
            </a:r>
          </a:p>
          <a:p>
            <a:r>
              <a:rPr lang="en-IN" sz="1200" b="1" dirty="0"/>
              <a:t>Legacy:</a:t>
            </a:r>
            <a:r>
              <a:rPr lang="en-IN" sz="1200" dirty="0"/>
              <a:t> Founded 1947 in Kyoto; evolved from playing cards to global gaming innovator with 75+ year heritage.</a:t>
            </a:r>
          </a:p>
          <a:p>
            <a:r>
              <a:rPr lang="en-IN" sz="1200" b="1" dirty="0"/>
              <a:t>Financials:</a:t>
            </a:r>
            <a:r>
              <a:rPr lang="en-IN" sz="1200" dirty="0"/>
              <a:t> 36% operating margins, $8.5B cash, minimal debt, expanding IP beyond gaming platforms</a:t>
            </a:r>
            <a:r>
              <a:rPr lang="en-IN" sz="1000" dirty="0"/>
              <a:t>.</a:t>
            </a:r>
          </a:p>
          <a:p>
            <a:endParaRPr lang="en-US" sz="1000" b="1" dirty="0"/>
          </a:p>
          <a:p>
            <a:endParaRPr lang="en-US" sz="900" b="1" dirty="0"/>
          </a:p>
        </p:txBody>
      </p:sp>
      <p:sp>
        <p:nvSpPr>
          <p:cNvPr id="5" name="TextBox 4">
            <a:extLst>
              <a:ext uri="{FF2B5EF4-FFF2-40B4-BE49-F238E27FC236}">
                <a16:creationId xmlns:a16="http://schemas.microsoft.com/office/drawing/2014/main" id="{7B885E75-DEB6-8E25-245E-F80DE68A9890}"/>
              </a:ext>
            </a:extLst>
          </p:cNvPr>
          <p:cNvSpPr txBox="1"/>
          <p:nvPr/>
        </p:nvSpPr>
        <p:spPr>
          <a:xfrm>
            <a:off x="4572000" y="3028335"/>
            <a:ext cx="2446020" cy="307777"/>
          </a:xfrm>
          <a:prstGeom prst="rect">
            <a:avLst/>
          </a:prstGeom>
          <a:noFill/>
        </p:spPr>
        <p:txBody>
          <a:bodyPr wrap="square" rtlCol="0">
            <a:spAutoFit/>
          </a:bodyPr>
          <a:lstStyle/>
          <a:p>
            <a:r>
              <a:rPr lang="en-US" sz="1400" b="1" dirty="0"/>
              <a:t>Strategic Rationale</a:t>
            </a:r>
          </a:p>
        </p:txBody>
      </p:sp>
      <p:sp>
        <p:nvSpPr>
          <p:cNvPr id="7" name="TextBox 6">
            <a:extLst>
              <a:ext uri="{FF2B5EF4-FFF2-40B4-BE49-F238E27FC236}">
                <a16:creationId xmlns:a16="http://schemas.microsoft.com/office/drawing/2014/main" id="{D71EE2EE-5101-F088-255A-AE19C8FD8516}"/>
              </a:ext>
            </a:extLst>
          </p:cNvPr>
          <p:cNvSpPr txBox="1"/>
          <p:nvPr/>
        </p:nvSpPr>
        <p:spPr>
          <a:xfrm>
            <a:off x="4572000" y="3306049"/>
            <a:ext cx="4267199" cy="1169551"/>
          </a:xfrm>
          <a:prstGeom prst="rect">
            <a:avLst/>
          </a:prstGeom>
          <a:noFill/>
        </p:spPr>
        <p:txBody>
          <a:bodyPr wrap="square">
            <a:spAutoFit/>
          </a:bodyPr>
          <a:lstStyle/>
          <a:p>
            <a:pPr marL="285750" indent="-285750">
              <a:buFont typeface="Arial" panose="020B0604020202020204" pitchFamily="34" charset="0"/>
              <a:buChar char="•"/>
            </a:pPr>
            <a:r>
              <a:rPr lang="en-US" sz="1000" b="1" dirty="0"/>
              <a:t>Strengthen Gaming Capabilities </a:t>
            </a:r>
            <a:r>
              <a:rPr lang="en-US" sz="1000" dirty="0"/>
              <a:t>– </a:t>
            </a:r>
            <a:r>
              <a:rPr lang="en-US" sz="1000" dirty="0" err="1"/>
              <a:t>Webflix</a:t>
            </a:r>
            <a:r>
              <a:rPr lang="en-US" sz="1000" dirty="0"/>
              <a:t> would be able to immediately accelerate its internal video game content capabilities, allowing it to create stronger, “stickier” relationships with its existing customer base while also serving to expand the size of its total addressable market </a:t>
            </a:r>
          </a:p>
          <a:p>
            <a:pPr marL="285750" indent="-285750">
              <a:buFont typeface="Arial" panose="020B0604020202020204" pitchFamily="34" charset="0"/>
              <a:buChar char="•"/>
            </a:pPr>
            <a:r>
              <a:rPr lang="en-US" sz="1000" b="1" dirty="0"/>
              <a:t>Deepen Penetration in APAC Region</a:t>
            </a:r>
            <a:r>
              <a:rPr lang="en-US" sz="1000" dirty="0"/>
              <a:t>– By acquiring Nintendo, </a:t>
            </a:r>
            <a:r>
              <a:rPr lang="en-US" sz="1000" dirty="0" err="1"/>
              <a:t>Webflix</a:t>
            </a:r>
            <a:r>
              <a:rPr lang="en-US" sz="1000" dirty="0"/>
              <a:t> would be able to bolster its market penetration in the key Asia-Pacific region, for which it generated </a:t>
            </a:r>
          </a:p>
        </p:txBody>
      </p:sp>
      <p:pic>
        <p:nvPicPr>
          <p:cNvPr id="9" name="Picture 8">
            <a:extLst>
              <a:ext uri="{FF2B5EF4-FFF2-40B4-BE49-F238E27FC236}">
                <a16:creationId xmlns:a16="http://schemas.microsoft.com/office/drawing/2014/main" id="{133BE52A-6B65-914A-345C-2C5E926194DC}"/>
              </a:ext>
            </a:extLst>
          </p:cNvPr>
          <p:cNvPicPr>
            <a:picLocks noChangeAspect="1"/>
          </p:cNvPicPr>
          <p:nvPr/>
        </p:nvPicPr>
        <p:blipFill>
          <a:blip r:embed="rId3"/>
          <a:stretch>
            <a:fillRect/>
          </a:stretch>
        </p:blipFill>
        <p:spPr>
          <a:xfrm>
            <a:off x="302508" y="699355"/>
            <a:ext cx="1663700" cy="520700"/>
          </a:xfrm>
          <a:prstGeom prst="rect">
            <a:avLst/>
          </a:prstGeom>
        </p:spPr>
      </p:pic>
      <p:graphicFrame>
        <p:nvGraphicFramePr>
          <p:cNvPr id="11" name="Table 11">
            <a:extLst>
              <a:ext uri="{FF2B5EF4-FFF2-40B4-BE49-F238E27FC236}">
                <a16:creationId xmlns:a16="http://schemas.microsoft.com/office/drawing/2014/main" id="{319C28B4-E1FD-97CB-D3FF-40AB71F73489}"/>
              </a:ext>
            </a:extLst>
          </p:cNvPr>
          <p:cNvGraphicFramePr>
            <a:graphicFrameLocks noGrp="1"/>
          </p:cNvGraphicFramePr>
          <p:nvPr>
            <p:extLst>
              <p:ext uri="{D42A27DB-BD31-4B8C-83A1-F6EECF244321}">
                <p14:modId xmlns:p14="http://schemas.microsoft.com/office/powerpoint/2010/main" val="3433277129"/>
              </p:ext>
            </p:extLst>
          </p:nvPr>
        </p:nvGraphicFramePr>
        <p:xfrm>
          <a:off x="302508" y="1220055"/>
          <a:ext cx="1925053" cy="1273859"/>
        </p:xfrm>
        <a:graphic>
          <a:graphicData uri="http://schemas.openxmlformats.org/drawingml/2006/table">
            <a:tbl>
              <a:tblPr firstRow="1" bandRow="1">
                <a:tableStyleId>{073A0DAA-6AF3-43AB-8588-CEC1D06C72B9}</a:tableStyleId>
              </a:tblPr>
              <a:tblGrid>
                <a:gridCol w="963659">
                  <a:extLst>
                    <a:ext uri="{9D8B030D-6E8A-4147-A177-3AD203B41FA5}">
                      <a16:colId xmlns:a16="http://schemas.microsoft.com/office/drawing/2014/main" val="4126971592"/>
                    </a:ext>
                  </a:extLst>
                </a:gridCol>
                <a:gridCol w="961394">
                  <a:extLst>
                    <a:ext uri="{9D8B030D-6E8A-4147-A177-3AD203B41FA5}">
                      <a16:colId xmlns:a16="http://schemas.microsoft.com/office/drawing/2014/main" val="1071492639"/>
                    </a:ext>
                  </a:extLst>
                </a:gridCol>
              </a:tblGrid>
              <a:tr h="405319">
                <a:tc>
                  <a:txBody>
                    <a:bodyPr/>
                    <a:lstStyle/>
                    <a:p>
                      <a:r>
                        <a:rPr lang="en-US" sz="900" b="1" dirty="0">
                          <a:solidFill>
                            <a:schemeClr val="tx1"/>
                          </a:solidFill>
                        </a:rPr>
                        <a:t>Revenue-$16b</a:t>
                      </a:r>
                    </a:p>
                  </a:txBody>
                  <a:tcPr>
                    <a:noFill/>
                  </a:tcPr>
                </a:tc>
                <a:tc>
                  <a:txBody>
                    <a:bodyPr/>
                    <a:lstStyle/>
                    <a:p>
                      <a:pPr algn="r"/>
                      <a:endParaRPr lang="en-US" sz="1200" dirty="0">
                        <a:solidFill>
                          <a:schemeClr val="tx1"/>
                        </a:solidFill>
                      </a:endParaRPr>
                    </a:p>
                  </a:txBody>
                  <a:tcPr>
                    <a:noFill/>
                  </a:tcPr>
                </a:tc>
                <a:extLst>
                  <a:ext uri="{0D108BD9-81ED-4DB2-BD59-A6C34878D82A}">
                    <a16:rowId xmlns:a16="http://schemas.microsoft.com/office/drawing/2014/main" val="1945779635"/>
                  </a:ext>
                </a:extLst>
              </a:tr>
              <a:tr h="434270">
                <a:tc>
                  <a:txBody>
                    <a:bodyPr/>
                    <a:lstStyle/>
                    <a:p>
                      <a:r>
                        <a:rPr lang="en-US" sz="900" b="1" dirty="0">
                          <a:solidFill>
                            <a:schemeClr val="tx1"/>
                          </a:solidFill>
                        </a:rPr>
                        <a:t>EBITDA $5.8b</a:t>
                      </a: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394691834"/>
                  </a:ext>
                </a:extLst>
              </a:tr>
              <a:tr h="434270">
                <a:tc>
                  <a:txBody>
                    <a:bodyPr/>
                    <a:lstStyle/>
                    <a:p>
                      <a:r>
                        <a:rPr lang="en-US" sz="900" b="1" dirty="0">
                          <a:solidFill>
                            <a:schemeClr val="tx1"/>
                          </a:solidFill>
                        </a:rPr>
                        <a:t>Equity- $17b Value</a:t>
                      </a: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graphicFrame>
        <p:nvGraphicFramePr>
          <p:cNvPr id="12" name="Table 11">
            <a:extLst>
              <a:ext uri="{FF2B5EF4-FFF2-40B4-BE49-F238E27FC236}">
                <a16:creationId xmlns:a16="http://schemas.microsoft.com/office/drawing/2014/main" id="{29D97120-9296-57A9-F615-A784D206615B}"/>
              </a:ext>
            </a:extLst>
          </p:cNvPr>
          <p:cNvGraphicFramePr>
            <a:graphicFrameLocks noGrp="1"/>
          </p:cNvGraphicFramePr>
          <p:nvPr>
            <p:extLst>
              <p:ext uri="{D42A27DB-BD31-4B8C-83A1-F6EECF244321}">
                <p14:modId xmlns:p14="http://schemas.microsoft.com/office/powerpoint/2010/main" val="2497064142"/>
              </p:ext>
            </p:extLst>
          </p:nvPr>
        </p:nvGraphicFramePr>
        <p:xfrm>
          <a:off x="2248187" y="763541"/>
          <a:ext cx="2175222" cy="1652635"/>
        </p:xfrm>
        <a:graphic>
          <a:graphicData uri="http://schemas.openxmlformats.org/drawingml/2006/table">
            <a:tbl>
              <a:tblPr firstRow="1" bandRow="1">
                <a:tableStyleId>{073A0DAA-6AF3-43AB-8588-CEC1D06C72B9}</a:tableStyleId>
              </a:tblPr>
              <a:tblGrid>
                <a:gridCol w="1339197">
                  <a:extLst>
                    <a:ext uri="{9D8B030D-6E8A-4147-A177-3AD203B41FA5}">
                      <a16:colId xmlns:a16="http://schemas.microsoft.com/office/drawing/2014/main" val="4126971592"/>
                    </a:ext>
                  </a:extLst>
                </a:gridCol>
                <a:gridCol w="836025">
                  <a:extLst>
                    <a:ext uri="{9D8B030D-6E8A-4147-A177-3AD203B41FA5}">
                      <a16:colId xmlns:a16="http://schemas.microsoft.com/office/drawing/2014/main" val="1071492639"/>
                    </a:ext>
                  </a:extLst>
                </a:gridCol>
              </a:tblGrid>
              <a:tr h="385881">
                <a:tc>
                  <a:txBody>
                    <a:bodyPr/>
                    <a:lstStyle/>
                    <a:p>
                      <a:r>
                        <a:rPr lang="en-US" sz="900" b="1" dirty="0">
                          <a:solidFill>
                            <a:schemeClr val="tx1"/>
                          </a:solidFill>
                        </a:rPr>
                        <a:t>Headquarters</a:t>
                      </a:r>
                    </a:p>
                    <a:p>
                      <a:r>
                        <a:rPr lang="en-US" sz="900" b="1" i="0" dirty="0" err="1">
                          <a:solidFill>
                            <a:schemeClr val="tx1"/>
                          </a:solidFill>
                          <a:latin typeface="+mn-lt"/>
                        </a:rPr>
                        <a:t>Kyoto,Japan</a:t>
                      </a:r>
                      <a:endParaRPr lang="en-US" sz="900" b="1" i="0" dirty="0">
                        <a:solidFill>
                          <a:schemeClr val="tx1"/>
                        </a:solidFill>
                        <a:latin typeface="+mn-lt"/>
                      </a:endParaRPr>
                    </a:p>
                  </a:txBody>
                  <a:tcPr>
                    <a:noFill/>
                  </a:tcPr>
                </a:tc>
                <a:tc>
                  <a:txBody>
                    <a:bodyPr/>
                    <a:lstStyle/>
                    <a:p>
                      <a:pPr algn="r"/>
                      <a:endParaRPr lang="en-US" sz="1200" dirty="0">
                        <a:solidFill>
                          <a:schemeClr val="tx1"/>
                        </a:solidFill>
                      </a:endParaRPr>
                    </a:p>
                  </a:txBody>
                  <a:tcPr>
                    <a:noFill/>
                  </a:tcPr>
                </a:tc>
                <a:extLst>
                  <a:ext uri="{0D108BD9-81ED-4DB2-BD59-A6C34878D82A}">
                    <a16:rowId xmlns:a16="http://schemas.microsoft.com/office/drawing/2014/main" val="4202442930"/>
                  </a:ext>
                </a:extLst>
              </a:tr>
              <a:tr h="369398">
                <a:tc>
                  <a:txBody>
                    <a:bodyPr/>
                    <a:lstStyle/>
                    <a:p>
                      <a:pPr algn="l"/>
                      <a:r>
                        <a:rPr lang="en-US" sz="900" b="1" dirty="0">
                          <a:solidFill>
                            <a:schemeClr val="tx1"/>
                          </a:solidFill>
                        </a:rPr>
                        <a:t>Founded-  NOV 1947</a:t>
                      </a:r>
                    </a:p>
                  </a:txBody>
                  <a:tcPr>
                    <a:noFill/>
                  </a:tcPr>
                </a:tc>
                <a:tc>
                  <a:txBody>
                    <a:bodyPr/>
                    <a:lstStyle/>
                    <a:p>
                      <a:pPr algn="ctr"/>
                      <a:endParaRPr lang="en-US" sz="1200" dirty="0">
                        <a:solidFill>
                          <a:schemeClr val="tx1"/>
                        </a:solidFill>
                      </a:endParaRPr>
                    </a:p>
                  </a:txBody>
                  <a:tcPr>
                    <a:noFill/>
                  </a:tcPr>
                </a:tc>
                <a:extLst>
                  <a:ext uri="{0D108BD9-81ED-4DB2-BD59-A6C34878D82A}">
                    <a16:rowId xmlns:a16="http://schemas.microsoft.com/office/drawing/2014/main" val="1945779635"/>
                  </a:ext>
                </a:extLst>
              </a:tr>
              <a:tr h="385881">
                <a:tc>
                  <a:txBody>
                    <a:bodyPr/>
                    <a:lstStyle/>
                    <a:p>
                      <a:r>
                        <a:rPr lang="en-US" sz="900" b="1" dirty="0">
                          <a:solidFill>
                            <a:schemeClr val="tx1"/>
                          </a:solidFill>
                        </a:rPr>
                        <a:t>Employees</a:t>
                      </a:r>
                      <a:r>
                        <a:rPr lang="en-US" sz="900" b="1" baseline="0" dirty="0">
                          <a:solidFill>
                            <a:schemeClr val="tx1"/>
                          </a:solidFill>
                        </a:rPr>
                        <a:t>-6574 </a:t>
                      </a:r>
                      <a:endParaRPr lang="en-US" sz="900" b="1" dirty="0">
                        <a:solidFill>
                          <a:schemeClr val="tx1"/>
                        </a:solidFill>
                      </a:endParaRP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394691834"/>
                  </a:ext>
                </a:extLst>
              </a:tr>
              <a:tr h="511475">
                <a:tc>
                  <a:txBody>
                    <a:bodyPr/>
                    <a:lstStyle/>
                    <a:p>
                      <a:r>
                        <a:rPr lang="en-US" sz="900" b="1" dirty="0">
                          <a:solidFill>
                            <a:schemeClr val="tx1"/>
                          </a:solidFill>
                        </a:rPr>
                        <a:t>President-</a:t>
                      </a:r>
                      <a:r>
                        <a:rPr lang="en-US" sz="900" b="1" dirty="0" err="1">
                          <a:solidFill>
                            <a:schemeClr val="tx1"/>
                          </a:solidFill>
                        </a:rPr>
                        <a:t>Shuntaro</a:t>
                      </a:r>
                      <a:r>
                        <a:rPr lang="en-US" sz="900" b="1" dirty="0">
                          <a:solidFill>
                            <a:schemeClr val="tx1"/>
                          </a:solidFill>
                        </a:rPr>
                        <a:t> Furukawa</a:t>
                      </a: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pic>
        <p:nvPicPr>
          <p:cNvPr id="14" name="Picture 13">
            <a:extLst>
              <a:ext uri="{FF2B5EF4-FFF2-40B4-BE49-F238E27FC236}">
                <a16:creationId xmlns:a16="http://schemas.microsoft.com/office/drawing/2014/main" id="{9EC4D4BE-A9EF-77F7-8C77-09D0B4105616}"/>
              </a:ext>
            </a:extLst>
          </p:cNvPr>
          <p:cNvPicPr>
            <a:picLocks noChangeAspect="1"/>
          </p:cNvPicPr>
          <p:nvPr/>
        </p:nvPicPr>
        <p:blipFill>
          <a:blip r:embed="rId4"/>
          <a:stretch>
            <a:fillRect/>
          </a:stretch>
        </p:blipFill>
        <p:spPr>
          <a:xfrm>
            <a:off x="4873595" y="5199192"/>
            <a:ext cx="4007514" cy="1465952"/>
          </a:xfrm>
          <a:prstGeom prst="rect">
            <a:avLst/>
          </a:prstGeom>
        </p:spPr>
      </p:pic>
      <p:sp>
        <p:nvSpPr>
          <p:cNvPr id="2" name="TextBox 1">
            <a:extLst>
              <a:ext uri="{FF2B5EF4-FFF2-40B4-BE49-F238E27FC236}">
                <a16:creationId xmlns:a16="http://schemas.microsoft.com/office/drawing/2014/main" id="{77E3F1CC-0056-98CD-E499-B312278C13E0}"/>
              </a:ext>
            </a:extLst>
          </p:cNvPr>
          <p:cNvSpPr txBox="1"/>
          <p:nvPr/>
        </p:nvSpPr>
        <p:spPr>
          <a:xfrm>
            <a:off x="304801" y="2493914"/>
            <a:ext cx="4118609" cy="338554"/>
          </a:xfrm>
          <a:prstGeom prst="rect">
            <a:avLst/>
          </a:prstGeom>
          <a:solidFill>
            <a:srgbClr val="002060"/>
          </a:solidFill>
        </p:spPr>
        <p:txBody>
          <a:bodyPr wrap="square" rtlCol="0">
            <a:spAutoFit/>
          </a:bodyPr>
          <a:lstStyle/>
          <a:p>
            <a:pPr algn="ctr"/>
            <a:r>
              <a:rPr lang="en-US" sz="1600" dirty="0">
                <a:solidFill>
                  <a:schemeClr val="bg1"/>
                </a:solidFill>
              </a:rPr>
              <a:t>Historical Financials ($ in Billions)</a:t>
            </a:r>
          </a:p>
        </p:txBody>
      </p:sp>
      <p:sp>
        <p:nvSpPr>
          <p:cNvPr id="3" name="TextBox 2">
            <a:extLst>
              <a:ext uri="{FF2B5EF4-FFF2-40B4-BE49-F238E27FC236}">
                <a16:creationId xmlns:a16="http://schemas.microsoft.com/office/drawing/2014/main" id="{D2D9565D-A196-B418-73D6-80CE21F3A654}"/>
              </a:ext>
            </a:extLst>
          </p:cNvPr>
          <p:cNvSpPr txBox="1"/>
          <p:nvPr/>
        </p:nvSpPr>
        <p:spPr>
          <a:xfrm>
            <a:off x="304800" y="4900683"/>
            <a:ext cx="4118609" cy="338554"/>
          </a:xfrm>
          <a:prstGeom prst="rect">
            <a:avLst/>
          </a:prstGeom>
          <a:solidFill>
            <a:srgbClr val="002060"/>
          </a:solidFill>
        </p:spPr>
        <p:txBody>
          <a:bodyPr wrap="square" rtlCol="0">
            <a:spAutoFit/>
          </a:bodyPr>
          <a:lstStyle/>
          <a:p>
            <a:pPr algn="ctr"/>
            <a:r>
              <a:rPr lang="en-US" sz="1600" dirty="0">
                <a:solidFill>
                  <a:schemeClr val="bg1"/>
                </a:solidFill>
              </a:rPr>
              <a:t>Revenue by Geography</a:t>
            </a:r>
          </a:p>
        </p:txBody>
      </p:sp>
      <p:sp>
        <p:nvSpPr>
          <p:cNvPr id="6" name="TextBox 5">
            <a:extLst>
              <a:ext uri="{FF2B5EF4-FFF2-40B4-BE49-F238E27FC236}">
                <a16:creationId xmlns:a16="http://schemas.microsoft.com/office/drawing/2014/main" id="{60CF8688-1049-0EF2-07AE-4315515BFCB8}"/>
              </a:ext>
            </a:extLst>
          </p:cNvPr>
          <p:cNvSpPr txBox="1"/>
          <p:nvPr/>
        </p:nvSpPr>
        <p:spPr>
          <a:xfrm>
            <a:off x="4655819" y="4900683"/>
            <a:ext cx="4225290" cy="338554"/>
          </a:xfrm>
          <a:prstGeom prst="rect">
            <a:avLst/>
          </a:prstGeom>
          <a:solidFill>
            <a:srgbClr val="002060"/>
          </a:solidFill>
        </p:spPr>
        <p:txBody>
          <a:bodyPr wrap="square" rtlCol="0">
            <a:spAutoFit/>
          </a:bodyPr>
          <a:lstStyle/>
          <a:p>
            <a:pPr algn="ctr"/>
            <a:r>
              <a:rPr lang="en-US" sz="1600" dirty="0">
                <a:solidFill>
                  <a:schemeClr val="bg1"/>
                </a:solidFill>
              </a:rPr>
              <a:t>Representative Franchise Assets</a:t>
            </a:r>
          </a:p>
        </p:txBody>
      </p:sp>
      <p:pic>
        <p:nvPicPr>
          <p:cNvPr id="26" name="Picture 25" descr="A graph showing the growth of financials&#10;&#10;AI-generated content may be incorrect.">
            <a:extLst>
              <a:ext uri="{FF2B5EF4-FFF2-40B4-BE49-F238E27FC236}">
                <a16:creationId xmlns:a16="http://schemas.microsoft.com/office/drawing/2014/main" id="{78F97F96-3D9B-1A87-247A-5701B0809F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293" y="2910206"/>
            <a:ext cx="3188953" cy="1847805"/>
          </a:xfrm>
          <a:prstGeom prst="rect">
            <a:avLst/>
          </a:prstGeom>
        </p:spPr>
      </p:pic>
      <p:pic>
        <p:nvPicPr>
          <p:cNvPr id="28" name="Picture 27" descr="A pie chart with different colored circles&#10;&#10;AI-generated content may be incorrect.">
            <a:extLst>
              <a:ext uri="{FF2B5EF4-FFF2-40B4-BE49-F238E27FC236}">
                <a16:creationId xmlns:a16="http://schemas.microsoft.com/office/drawing/2014/main" id="{EA5DEF8C-9DDF-0CC8-8B77-8C2438F98C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5532" y="5316975"/>
            <a:ext cx="2037144" cy="1492416"/>
          </a:xfrm>
          <a:prstGeom prst="rect">
            <a:avLst/>
          </a:prstGeom>
        </p:spPr>
      </p:pic>
    </p:spTree>
    <p:extLst>
      <p:ext uri="{BB962C8B-B14F-4D97-AF65-F5344CB8AC3E}">
        <p14:creationId xmlns:p14="http://schemas.microsoft.com/office/powerpoint/2010/main" val="275854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533400"/>
          </a:xfrm>
        </p:spPr>
        <p:txBody>
          <a:bodyPr/>
          <a:lstStyle/>
          <a:p>
            <a:r>
              <a:rPr lang="en-US" sz="1800" b="1" dirty="0">
                <a:latin typeface="Arial" panose="020B0604020202020204" pitchFamily="34" charset="0"/>
                <a:cs typeface="Arial" panose="020B0604020202020204" pitchFamily="34" charset="0"/>
              </a:rPr>
              <a:t>Nintendo</a:t>
            </a:r>
            <a:r>
              <a:rPr lang="en-US" sz="1800" dirty="0">
                <a:latin typeface="Arial" panose="020B0604020202020204" pitchFamily="34" charset="0"/>
                <a:cs typeface="Arial" panose="020B0604020202020204" pitchFamily="34" charset="0"/>
              </a:rPr>
              <a:t> | </a:t>
            </a:r>
            <a:r>
              <a:rPr lang="en-US" sz="1800" b="0" dirty="0">
                <a:latin typeface="Arial" panose="020B0604020202020204" pitchFamily="34" charset="0"/>
                <a:cs typeface="Arial" panose="020B0604020202020204" pitchFamily="34" charset="0"/>
              </a:rPr>
              <a:t>Discounted Cash Flow Analysis</a:t>
            </a:r>
          </a:p>
        </p:txBody>
      </p:sp>
      <p:sp>
        <p:nvSpPr>
          <p:cNvPr id="3" name="Slide Number Placeholder 2"/>
          <p:cNvSpPr>
            <a:spLocks noGrp="1"/>
          </p:cNvSpPr>
          <p:nvPr>
            <p:ph type="sldNum" sz="quarter" idx="4"/>
          </p:nvPr>
        </p:nvSpPr>
        <p:spPr/>
        <p:txBody>
          <a:bodyPr/>
          <a:lstStyle/>
          <a:p>
            <a:fld id="{0E597324-71BB-4312-8794-C30754F659B3}" type="slidenum">
              <a:rPr lang="en-US" smtClean="0"/>
              <a:pPr/>
              <a:t>2</a:t>
            </a:fld>
            <a:endParaRPr lang="en-US" dirty="0"/>
          </a:p>
        </p:txBody>
      </p:sp>
      <p:sp>
        <p:nvSpPr>
          <p:cNvPr id="6" name="TextBox 5">
            <a:extLst>
              <a:ext uri="{FF2B5EF4-FFF2-40B4-BE49-F238E27FC236}">
                <a16:creationId xmlns:a16="http://schemas.microsoft.com/office/drawing/2014/main" id="{3953B1F8-2615-2026-1053-E17D560D78E7}"/>
              </a:ext>
            </a:extLst>
          </p:cNvPr>
          <p:cNvSpPr txBox="1"/>
          <p:nvPr/>
        </p:nvSpPr>
        <p:spPr>
          <a:xfrm>
            <a:off x="304801"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Enterprise Value</a:t>
            </a:r>
          </a:p>
        </p:txBody>
      </p:sp>
      <p:sp>
        <p:nvSpPr>
          <p:cNvPr id="7" name="TextBox 6">
            <a:extLst>
              <a:ext uri="{FF2B5EF4-FFF2-40B4-BE49-F238E27FC236}">
                <a16:creationId xmlns:a16="http://schemas.microsoft.com/office/drawing/2014/main" id="{2A7FC7F8-A1F0-ED44-2CA4-5AFD5E54CFB3}"/>
              </a:ext>
            </a:extLst>
          </p:cNvPr>
          <p:cNvSpPr txBox="1"/>
          <p:nvPr/>
        </p:nvSpPr>
        <p:spPr>
          <a:xfrm>
            <a:off x="4611758"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Implied Share Price</a:t>
            </a:r>
          </a:p>
        </p:txBody>
      </p:sp>
      <p:sp>
        <p:nvSpPr>
          <p:cNvPr id="8" name="TextBox 7">
            <a:extLst>
              <a:ext uri="{FF2B5EF4-FFF2-40B4-BE49-F238E27FC236}">
                <a16:creationId xmlns:a16="http://schemas.microsoft.com/office/drawing/2014/main" id="{56CFDA3E-41F8-9E93-B9DE-1583A285F49A}"/>
              </a:ext>
            </a:extLst>
          </p:cNvPr>
          <p:cNvSpPr txBox="1"/>
          <p:nvPr/>
        </p:nvSpPr>
        <p:spPr>
          <a:xfrm>
            <a:off x="304801" y="889241"/>
            <a:ext cx="8527424" cy="338554"/>
          </a:xfrm>
          <a:prstGeom prst="rect">
            <a:avLst/>
          </a:prstGeom>
          <a:solidFill>
            <a:srgbClr val="002060"/>
          </a:solidFill>
        </p:spPr>
        <p:txBody>
          <a:bodyPr wrap="square" rtlCol="0">
            <a:spAutoFit/>
          </a:bodyPr>
          <a:lstStyle/>
          <a:p>
            <a:pPr algn="ctr"/>
            <a:r>
              <a:rPr lang="en-US" sz="1600" dirty="0">
                <a:solidFill>
                  <a:schemeClr val="bg1"/>
                </a:solidFill>
              </a:rPr>
              <a:t>Implied Enterprise Value &amp; Equity Value from DCF</a:t>
            </a:r>
          </a:p>
        </p:txBody>
      </p:sp>
      <p:pic>
        <p:nvPicPr>
          <p:cNvPr id="9" name="Picture 8">
            <a:extLst>
              <a:ext uri="{FF2B5EF4-FFF2-40B4-BE49-F238E27FC236}">
                <a16:creationId xmlns:a16="http://schemas.microsoft.com/office/drawing/2014/main" id="{AC0D66E5-6405-6D97-BD59-FD6B7BE3E7B0}"/>
              </a:ext>
            </a:extLst>
          </p:cNvPr>
          <p:cNvPicPr>
            <a:picLocks noChangeAspect="1"/>
          </p:cNvPicPr>
          <p:nvPr/>
        </p:nvPicPr>
        <p:blipFill>
          <a:blip r:embed="rId3"/>
          <a:stretch>
            <a:fillRect/>
          </a:stretch>
        </p:blipFill>
        <p:spPr>
          <a:xfrm>
            <a:off x="311775" y="1274685"/>
            <a:ext cx="782083" cy="244774"/>
          </a:xfrm>
          <a:prstGeom prst="rect">
            <a:avLst/>
          </a:prstGeom>
        </p:spPr>
      </p:pic>
      <p:sp>
        <p:nvSpPr>
          <p:cNvPr id="12" name="TextBox 11">
            <a:extLst>
              <a:ext uri="{FF2B5EF4-FFF2-40B4-BE49-F238E27FC236}">
                <a16:creationId xmlns:a16="http://schemas.microsoft.com/office/drawing/2014/main" id="{59E890A7-8B9A-6C4F-2744-081813E9F240}"/>
              </a:ext>
            </a:extLst>
          </p:cNvPr>
          <p:cNvSpPr txBox="1"/>
          <p:nvPr/>
        </p:nvSpPr>
        <p:spPr>
          <a:xfrm>
            <a:off x="304801" y="6078224"/>
            <a:ext cx="8527424" cy="338554"/>
          </a:xfrm>
          <a:prstGeom prst="rect">
            <a:avLst/>
          </a:prstGeom>
          <a:solidFill>
            <a:srgbClr val="002060"/>
          </a:solidFill>
        </p:spPr>
        <p:txBody>
          <a:bodyPr wrap="square" rtlCol="0">
            <a:spAutoFit/>
          </a:bodyPr>
          <a:lstStyle/>
          <a:p>
            <a:pPr algn="ctr"/>
            <a:r>
              <a:rPr lang="en-US" sz="1600" dirty="0">
                <a:solidFill>
                  <a:schemeClr val="bg1"/>
                </a:solidFill>
              </a:rPr>
              <a:t>We believe Nintendo should be valued between [$</a:t>
            </a:r>
            <a:r>
              <a:rPr lang="en-US" sz="1600" dirty="0" err="1">
                <a:solidFill>
                  <a:schemeClr val="bg1"/>
                </a:solidFill>
              </a:rPr>
              <a:t>xxB</a:t>
            </a:r>
            <a:r>
              <a:rPr lang="en-US" sz="1600" dirty="0">
                <a:solidFill>
                  <a:schemeClr val="bg1"/>
                </a:solidFill>
              </a:rPr>
              <a:t>-$</a:t>
            </a:r>
            <a:r>
              <a:rPr lang="en-US" sz="1600" dirty="0" err="1">
                <a:solidFill>
                  <a:schemeClr val="bg1"/>
                </a:solidFill>
              </a:rPr>
              <a:t>xxB</a:t>
            </a:r>
            <a:r>
              <a:rPr lang="en-US" sz="1600" dirty="0">
                <a:solidFill>
                  <a:schemeClr val="bg1"/>
                </a:solidFill>
              </a:rPr>
              <a:t>], with a midpoint valuation of $</a:t>
            </a:r>
            <a:r>
              <a:rPr lang="en-US" sz="1600" dirty="0" err="1">
                <a:solidFill>
                  <a:schemeClr val="bg1"/>
                </a:solidFill>
              </a:rPr>
              <a:t>xxB</a:t>
            </a:r>
            <a:endParaRPr lang="en-US" sz="1600" dirty="0">
              <a:solidFill>
                <a:schemeClr val="bg1"/>
              </a:solidFill>
            </a:endParaRPr>
          </a:p>
        </p:txBody>
      </p:sp>
      <p:graphicFrame>
        <p:nvGraphicFramePr>
          <p:cNvPr id="14" name="Table 13">
            <a:extLst>
              <a:ext uri="{FF2B5EF4-FFF2-40B4-BE49-F238E27FC236}">
                <a16:creationId xmlns:a16="http://schemas.microsoft.com/office/drawing/2014/main" id="{784A346A-8670-BD0C-AADB-813F0F3413DB}"/>
              </a:ext>
            </a:extLst>
          </p:cNvPr>
          <p:cNvGraphicFramePr>
            <a:graphicFrameLocks noGrp="1"/>
          </p:cNvGraphicFramePr>
          <p:nvPr>
            <p:extLst>
              <p:ext uri="{D42A27DB-BD31-4B8C-83A1-F6EECF244321}">
                <p14:modId xmlns:p14="http://schemas.microsoft.com/office/powerpoint/2010/main" val="3744663845"/>
              </p:ext>
            </p:extLst>
          </p:nvPr>
        </p:nvGraphicFramePr>
        <p:xfrm>
          <a:off x="1060450" y="1431239"/>
          <a:ext cx="7023100" cy="2330562"/>
        </p:xfrm>
        <a:graphic>
          <a:graphicData uri="http://schemas.openxmlformats.org/drawingml/2006/table">
            <a:tbl>
              <a:tblPr>
                <a:tableStyleId>{5C22544A-7EE6-4342-B048-85BDC9FD1C3A}</a:tableStyleId>
              </a:tblPr>
              <a:tblGrid>
                <a:gridCol w="419100">
                  <a:extLst>
                    <a:ext uri="{9D8B030D-6E8A-4147-A177-3AD203B41FA5}">
                      <a16:colId xmlns:a16="http://schemas.microsoft.com/office/drawing/2014/main" val="1597823112"/>
                    </a:ext>
                  </a:extLst>
                </a:gridCol>
                <a:gridCol w="638175">
                  <a:extLst>
                    <a:ext uri="{9D8B030D-6E8A-4147-A177-3AD203B41FA5}">
                      <a16:colId xmlns:a16="http://schemas.microsoft.com/office/drawing/2014/main" val="2897312209"/>
                    </a:ext>
                  </a:extLst>
                </a:gridCol>
                <a:gridCol w="1190625">
                  <a:extLst>
                    <a:ext uri="{9D8B030D-6E8A-4147-A177-3AD203B41FA5}">
                      <a16:colId xmlns:a16="http://schemas.microsoft.com/office/drawing/2014/main" val="599818494"/>
                    </a:ext>
                  </a:extLst>
                </a:gridCol>
                <a:gridCol w="1193800">
                  <a:extLst>
                    <a:ext uri="{9D8B030D-6E8A-4147-A177-3AD203B41FA5}">
                      <a16:colId xmlns:a16="http://schemas.microsoft.com/office/drawing/2014/main" val="2809228409"/>
                    </a:ext>
                  </a:extLst>
                </a:gridCol>
                <a:gridCol w="1193800">
                  <a:extLst>
                    <a:ext uri="{9D8B030D-6E8A-4147-A177-3AD203B41FA5}">
                      <a16:colId xmlns:a16="http://schemas.microsoft.com/office/drawing/2014/main" val="3315030922"/>
                    </a:ext>
                  </a:extLst>
                </a:gridCol>
                <a:gridCol w="1193800">
                  <a:extLst>
                    <a:ext uri="{9D8B030D-6E8A-4147-A177-3AD203B41FA5}">
                      <a16:colId xmlns:a16="http://schemas.microsoft.com/office/drawing/2014/main" val="41760453"/>
                    </a:ext>
                  </a:extLst>
                </a:gridCol>
                <a:gridCol w="1193800">
                  <a:extLst>
                    <a:ext uri="{9D8B030D-6E8A-4147-A177-3AD203B41FA5}">
                      <a16:colId xmlns:a16="http://schemas.microsoft.com/office/drawing/2014/main" val="3407081310"/>
                    </a:ext>
                  </a:extLst>
                </a:gridCol>
              </a:tblGrid>
              <a:tr h="179274">
                <a:tc gridSpan="3">
                  <a:txBody>
                    <a:bodyPr/>
                    <a:lstStyle/>
                    <a:p>
                      <a:pPr algn="l" fontAlgn="b">
                        <a:buNone/>
                      </a:pPr>
                      <a:r>
                        <a:rPr lang="en-IN" sz="1000" u="none" strike="noStrike">
                          <a:effectLst/>
                        </a:rPr>
                        <a:t>Forward (2026E) EBITDA</a:t>
                      </a:r>
                      <a:endParaRPr lang="en-IN" sz="1000" b="0" i="0" u="none" strike="noStrike">
                        <a:effectLst/>
                        <a:latin typeface="Arial" panose="020B0604020202020204" pitchFamily="34" charset="0"/>
                      </a:endParaRPr>
                    </a:p>
                  </a:txBody>
                  <a:tcPr marL="85725" marR="9525" marT="9525" marB="0" anchor="b"/>
                </a:tc>
                <a:tc hMerge="1">
                  <a:txBody>
                    <a:bodyPr/>
                    <a:lstStyle/>
                    <a:p>
                      <a:endParaRPr lang="en-US"/>
                    </a:p>
                  </a:txBody>
                  <a:tcPr/>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$6,943.0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2122560215"/>
                  </a:ext>
                </a:extLst>
              </a:tr>
              <a:tr h="179274">
                <a:tc gridSpan="3">
                  <a:txBody>
                    <a:bodyPr/>
                    <a:lstStyle/>
                    <a:p>
                      <a:pPr algn="l" fontAlgn="b">
                        <a:buNone/>
                      </a:pPr>
                      <a:r>
                        <a:rPr lang="en-IN" sz="1000" u="none" strike="noStrike">
                          <a:effectLst/>
                        </a:rPr>
                        <a:t>Terminal Multiple</a:t>
                      </a:r>
                      <a:endParaRPr lang="en-IN" sz="1000" b="0" i="0" u="none" strike="noStrike">
                        <a:effectLst/>
                        <a:latin typeface="Arial" panose="020B0604020202020204" pitchFamily="34" charset="0"/>
                      </a:endParaRPr>
                    </a:p>
                  </a:txBody>
                  <a:tcPr marL="85725" marR="9525" marT="9525" marB="0" anchor="b"/>
                </a:tc>
                <a:tc hMerge="1">
                  <a:txBody>
                    <a:bodyPr/>
                    <a:lstStyle/>
                    <a:p>
                      <a:endParaRPr lang="en-US"/>
                    </a:p>
                  </a:txBody>
                  <a:tcPr/>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12.0x</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4110860117"/>
                  </a:ext>
                </a:extLst>
              </a:tr>
              <a:tr h="179274">
                <a:tc gridSpan="2">
                  <a:txBody>
                    <a:bodyPr/>
                    <a:lstStyle/>
                    <a:p>
                      <a:pPr algn="l" fontAlgn="b">
                        <a:buNone/>
                      </a:pPr>
                      <a:r>
                        <a:rPr lang="en-IN" sz="1000" u="none" strike="noStrike">
                          <a:effectLst/>
                        </a:rPr>
                        <a:t>Terminal Value</a:t>
                      </a:r>
                      <a:endParaRPr lang="en-IN" sz="1000" b="0" i="0" u="none" strike="noStrike">
                        <a:effectLst/>
                        <a:latin typeface="Arial" panose="020B0604020202020204" pitchFamily="34" charset="0"/>
                      </a:endParaRPr>
                    </a:p>
                  </a:txBody>
                  <a:tcPr marL="85725" marR="9525" marT="9525" marB="0" anchor="b"/>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r>
                        <a:rPr lang="en-IN" sz="1000" u="none" strike="noStrike">
                          <a:effectLst/>
                        </a:rPr>
                        <a:t> $           83,315.7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3915534936"/>
                  </a:ext>
                </a:extLst>
              </a:tr>
              <a:tr h="179274">
                <a:tc gridSpan="3">
                  <a:txBody>
                    <a:bodyPr/>
                    <a:lstStyle/>
                    <a:p>
                      <a:pPr algn="l" fontAlgn="b">
                        <a:buNone/>
                      </a:pPr>
                      <a:r>
                        <a:rPr lang="en-IN" sz="1000" u="none" strike="noStrike">
                          <a:effectLst/>
                        </a:rPr>
                        <a:t>Present Value of Terminal Value</a:t>
                      </a:r>
                      <a:endParaRPr lang="en-IN" sz="1000" b="0" i="0" u="none" strike="noStrike">
                        <a:effectLst/>
                        <a:latin typeface="Arial" panose="020B0604020202020204" pitchFamily="34" charset="0"/>
                      </a:endParaRPr>
                    </a:p>
                  </a:txBody>
                  <a:tcPr marL="85725" marR="9525" marT="9525" marB="0" anchor="b"/>
                </a:tc>
                <a:tc hMerge="1">
                  <a:txBody>
                    <a:bodyPr/>
                    <a:lstStyle/>
                    <a:p>
                      <a:endParaRPr lang="en-US"/>
                    </a:p>
                  </a:txBody>
                  <a:tcPr/>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$55,408.7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3962956014"/>
                  </a:ext>
                </a:extLst>
              </a:tr>
              <a:tr h="179274">
                <a:tc>
                  <a:txBody>
                    <a:bodyPr/>
                    <a:lstStyle/>
                    <a:p>
                      <a:pPr algn="l" fontAlgn="b">
                        <a:buNone/>
                      </a:pPr>
                      <a:endParaRPr lang="en-IN" sz="1000" b="0" i="0" u="none" strike="noStrike">
                        <a:effectLst/>
                        <a:latin typeface="Arial" panose="020B0604020202020204" pitchFamily="34" charset="0"/>
                      </a:endParaRPr>
                    </a:p>
                  </a:txBody>
                  <a:tcPr marL="857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1520350408"/>
                  </a:ext>
                </a:extLst>
              </a:tr>
              <a:tr h="179274">
                <a:tc gridSpan="3">
                  <a:txBody>
                    <a:bodyPr/>
                    <a:lstStyle/>
                    <a:p>
                      <a:pPr algn="l" fontAlgn="b">
                        <a:buNone/>
                      </a:pPr>
                      <a:r>
                        <a:rPr lang="en-IN" sz="1000" u="none" strike="noStrike">
                          <a:effectLst/>
                        </a:rPr>
                        <a:t>PV of Unlevered FCF</a:t>
                      </a:r>
                      <a:endParaRPr lang="en-IN" sz="1000" b="0" i="0" u="none" strike="noStrike">
                        <a:effectLst/>
                        <a:latin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$14,150.0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1785980706"/>
                  </a:ext>
                </a:extLst>
              </a:tr>
              <a:tr h="179274">
                <a:tc gridSpan="3">
                  <a:txBody>
                    <a:bodyPr/>
                    <a:lstStyle/>
                    <a:p>
                      <a:pPr algn="l" fontAlgn="b">
                        <a:buNone/>
                      </a:pPr>
                      <a:r>
                        <a:rPr lang="en-IN" sz="1000" u="none" strike="noStrike">
                          <a:effectLst/>
                        </a:rPr>
                        <a:t>Plus: PV of Terminal Value</a:t>
                      </a:r>
                      <a:endParaRPr lang="en-IN" sz="1000" b="0" i="0" u="none" strike="noStrike">
                        <a:effectLst/>
                        <a:latin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55,408.7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3738228046"/>
                  </a:ext>
                </a:extLst>
              </a:tr>
              <a:tr h="179274">
                <a:tc gridSpan="3">
                  <a:txBody>
                    <a:bodyPr/>
                    <a:lstStyle/>
                    <a:p>
                      <a:pPr algn="l" fontAlgn="b">
                        <a:buNone/>
                      </a:pPr>
                      <a:r>
                        <a:rPr lang="en-IN" sz="1000" u="none" strike="noStrike">
                          <a:effectLst/>
                        </a:rPr>
                        <a:t>Implied TEV / Present Value</a:t>
                      </a:r>
                      <a:endParaRPr lang="en-IN" sz="1000" b="1" i="0" u="none" strike="noStrike">
                        <a:effectLst/>
                        <a:latin typeface="Arial" panose="020B0604020202020204" pitchFamily="34" charset="0"/>
                      </a:endParaRPr>
                    </a:p>
                  </a:txBody>
                  <a:tcPr marL="85725" marR="9525" marT="9525" marB="0" anchor="b"/>
                </a:tc>
                <a:tc hMerge="1">
                  <a:txBody>
                    <a:bodyPr/>
                    <a:lstStyle/>
                    <a:p>
                      <a:endParaRPr lang="en-US"/>
                    </a:p>
                  </a:txBody>
                  <a:tcPr/>
                </a:tc>
                <a:tc hMerge="1">
                  <a:txBody>
                    <a:bodyPr/>
                    <a:lstStyle/>
                    <a:p>
                      <a:endParaRPr lang="en-US"/>
                    </a:p>
                  </a:txBody>
                  <a:tcPr/>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$69,558.7 </a:t>
                      </a:r>
                      <a:endParaRPr lang="en-IN" sz="1000" b="1"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1774765787"/>
                  </a:ext>
                </a:extLst>
              </a:tr>
              <a:tr h="179274">
                <a:tc gridSpan="2">
                  <a:txBody>
                    <a:bodyPr/>
                    <a:lstStyle/>
                    <a:p>
                      <a:pPr algn="l" fontAlgn="b">
                        <a:buNone/>
                      </a:pPr>
                      <a:r>
                        <a:rPr lang="en-IN" sz="1000" u="none" strike="noStrike">
                          <a:effectLst/>
                        </a:rPr>
                        <a:t>Plus: Cash </a:t>
                      </a:r>
                      <a:endParaRPr lang="en-IN" sz="1000" b="0" i="0" u="none" strike="noStrike">
                        <a:effectLst/>
                        <a:latin typeface="Arial" panose="020B0604020202020204" pitchFamily="34" charset="0"/>
                      </a:endParaRPr>
                    </a:p>
                  </a:txBody>
                  <a:tcPr marL="85725" marR="9525" marT="9525" marB="0" anchor="b"/>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endParaRPr lang="en-IN" sz="1000" b="1"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9,200.0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1655265233"/>
                  </a:ext>
                </a:extLst>
              </a:tr>
              <a:tr h="179274">
                <a:tc gridSpan="2">
                  <a:txBody>
                    <a:bodyPr/>
                    <a:lstStyle/>
                    <a:p>
                      <a:pPr algn="l" fontAlgn="b">
                        <a:buNone/>
                      </a:pPr>
                      <a:r>
                        <a:rPr lang="en-IN" sz="1000" u="none" strike="noStrike">
                          <a:effectLst/>
                        </a:rPr>
                        <a:t>Less: Debt </a:t>
                      </a:r>
                      <a:endParaRPr lang="en-IN" sz="1000" b="0" i="0" u="none" strike="noStrike">
                        <a:effectLst/>
                        <a:latin typeface="Arial" panose="020B0604020202020204" pitchFamily="34" charset="0"/>
                      </a:endParaRPr>
                    </a:p>
                  </a:txBody>
                  <a:tcPr marL="85725" marR="9525" marT="9525" marB="0" anchor="b"/>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endParaRPr lang="en-IN" sz="1000" b="1"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(50.0)</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3529195922"/>
                  </a:ext>
                </a:extLst>
              </a:tr>
              <a:tr h="179274">
                <a:tc gridSpan="3">
                  <a:txBody>
                    <a:bodyPr/>
                    <a:lstStyle/>
                    <a:p>
                      <a:pPr algn="l" fontAlgn="b">
                        <a:buNone/>
                      </a:pPr>
                      <a:r>
                        <a:rPr lang="en-IN" sz="1000" u="none" strike="noStrike">
                          <a:effectLst/>
                        </a:rPr>
                        <a:t>Implied Equity Value</a:t>
                      </a:r>
                      <a:endParaRPr lang="en-IN" sz="1000" b="1" i="0" u="none" strike="noStrike">
                        <a:effectLst/>
                        <a:latin typeface="Arial" panose="020B0604020202020204" pitchFamily="34" charset="0"/>
                      </a:endParaRPr>
                    </a:p>
                  </a:txBody>
                  <a:tcPr marL="85725" marR="9525" marT="9525" marB="0" anchor="b"/>
                </a:tc>
                <a:tc hMerge="1">
                  <a:txBody>
                    <a:bodyPr/>
                    <a:lstStyle/>
                    <a:p>
                      <a:endParaRPr lang="en-US"/>
                    </a:p>
                  </a:txBody>
                  <a:tcPr/>
                </a:tc>
                <a:tc hMerge="1">
                  <a:txBody>
                    <a:bodyPr/>
                    <a:lstStyle/>
                    <a:p>
                      <a:endParaRPr lang="en-US"/>
                    </a:p>
                  </a:txBody>
                  <a:tcPr/>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$78,708.7 </a:t>
                      </a:r>
                      <a:endParaRPr lang="en-IN" sz="1000" b="1"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2973526384"/>
                  </a:ext>
                </a:extLst>
              </a:tr>
              <a:tr h="179274">
                <a:tc gridSpan="3">
                  <a:txBody>
                    <a:bodyPr/>
                    <a:lstStyle/>
                    <a:p>
                      <a:pPr algn="l" fontAlgn="b">
                        <a:buNone/>
                      </a:pPr>
                      <a:r>
                        <a:rPr lang="en-IN" sz="1000" u="none" strike="noStrike">
                          <a:effectLst/>
                        </a:rPr>
                        <a:t>Shares Outstanding </a:t>
                      </a:r>
                      <a:endParaRPr lang="en-IN" sz="1000" b="0" i="0" u="none" strike="noStrike">
                        <a:effectLst/>
                        <a:latin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l" fontAlgn="b">
                        <a:buNone/>
                      </a:pPr>
                      <a:endParaRPr lang="en-IN" sz="1000" b="0"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a:effectLst/>
                        </a:rPr>
                        <a:t>1,000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2054087160"/>
                  </a:ext>
                </a:extLst>
              </a:tr>
              <a:tr h="179274">
                <a:tc gridSpan="3">
                  <a:txBody>
                    <a:bodyPr/>
                    <a:lstStyle/>
                    <a:p>
                      <a:pPr algn="l" fontAlgn="b">
                        <a:buNone/>
                      </a:pPr>
                      <a:r>
                        <a:rPr lang="en-IN" sz="1000" u="none" strike="noStrike">
                          <a:effectLst/>
                        </a:rPr>
                        <a:t>Implied Share Price Valuation </a:t>
                      </a:r>
                      <a:endParaRPr lang="en-IN" sz="1000" b="1" i="0" u="none" strike="noStrike">
                        <a:effectLst/>
                        <a:latin typeface="Arial" panose="020B0604020202020204" pitchFamily="34" charset="0"/>
                      </a:endParaRPr>
                    </a:p>
                  </a:txBody>
                  <a:tcPr marL="85725" marR="9525" marT="9525" marB="0" anchor="b"/>
                </a:tc>
                <a:tc hMerge="1">
                  <a:txBody>
                    <a:bodyPr/>
                    <a:lstStyle/>
                    <a:p>
                      <a:endParaRPr lang="en-US"/>
                    </a:p>
                  </a:txBody>
                  <a:tcPr/>
                </a:tc>
                <a:tc hMerge="1">
                  <a:txBody>
                    <a:bodyPr/>
                    <a:lstStyle/>
                    <a:p>
                      <a:endParaRPr lang="en-US"/>
                    </a:p>
                  </a:txBody>
                  <a:tcPr/>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l" fontAlgn="b">
                        <a:buNone/>
                      </a:pPr>
                      <a:r>
                        <a:rPr lang="en-IN" sz="1000" u="none" strike="noStrike">
                          <a:effectLst/>
                        </a:rPr>
                        <a:t> </a:t>
                      </a:r>
                      <a:endParaRPr lang="en-IN" sz="1000" b="1" i="0" u="none" strike="noStrike">
                        <a:effectLst/>
                        <a:latin typeface="Arial" panose="020B0604020202020204" pitchFamily="34" charset="0"/>
                      </a:endParaRPr>
                    </a:p>
                  </a:txBody>
                  <a:tcPr marL="9525" marR="9525" marT="9525" marB="0" anchor="b"/>
                </a:tc>
                <a:tc>
                  <a:txBody>
                    <a:bodyPr/>
                    <a:lstStyle/>
                    <a:p>
                      <a:pPr algn="r" fontAlgn="b">
                        <a:buNone/>
                      </a:pPr>
                      <a:r>
                        <a:rPr lang="en-IN" sz="1000" u="none" strike="noStrike" dirty="0">
                          <a:effectLst/>
                        </a:rPr>
                        <a:t>$78.71 </a:t>
                      </a:r>
                      <a:endParaRPr lang="en-IN" sz="1000" b="1" i="0" u="none" strike="noStrike" dirty="0">
                        <a:effectLst/>
                        <a:latin typeface="Arial" panose="020B0604020202020204" pitchFamily="34" charset="0"/>
                      </a:endParaRPr>
                    </a:p>
                  </a:txBody>
                  <a:tcPr marL="9525" marR="9525" marT="9525" marB="0" anchor="b"/>
                </a:tc>
                <a:extLst>
                  <a:ext uri="{0D108BD9-81ED-4DB2-BD59-A6C34878D82A}">
                    <a16:rowId xmlns:a16="http://schemas.microsoft.com/office/drawing/2014/main" val="1087372173"/>
                  </a:ext>
                </a:extLst>
              </a:tr>
            </a:tbl>
          </a:graphicData>
        </a:graphic>
      </p:graphicFrame>
      <p:graphicFrame>
        <p:nvGraphicFramePr>
          <p:cNvPr id="22" name="Table 21">
            <a:extLst>
              <a:ext uri="{FF2B5EF4-FFF2-40B4-BE49-F238E27FC236}">
                <a16:creationId xmlns:a16="http://schemas.microsoft.com/office/drawing/2014/main" id="{8B33C765-EE9B-34CD-EF77-557C7F8A3D2F}"/>
              </a:ext>
            </a:extLst>
          </p:cNvPr>
          <p:cNvGraphicFramePr>
            <a:graphicFrameLocks noGrp="1"/>
          </p:cNvGraphicFramePr>
          <p:nvPr>
            <p:extLst>
              <p:ext uri="{D42A27DB-BD31-4B8C-83A1-F6EECF244321}">
                <p14:modId xmlns:p14="http://schemas.microsoft.com/office/powerpoint/2010/main" val="3172491998"/>
              </p:ext>
            </p:extLst>
          </p:nvPr>
        </p:nvGraphicFramePr>
        <p:xfrm>
          <a:off x="454819" y="4561115"/>
          <a:ext cx="3616438" cy="1411532"/>
        </p:xfrm>
        <a:graphic>
          <a:graphicData uri="http://schemas.openxmlformats.org/drawingml/2006/table">
            <a:tbl>
              <a:tblPr>
                <a:tableStyleId>{5C22544A-7EE6-4342-B048-85BDC9FD1C3A}</a:tableStyleId>
              </a:tblPr>
              <a:tblGrid>
                <a:gridCol w="1193800">
                  <a:extLst>
                    <a:ext uri="{9D8B030D-6E8A-4147-A177-3AD203B41FA5}">
                      <a16:colId xmlns:a16="http://schemas.microsoft.com/office/drawing/2014/main" val="3835769154"/>
                    </a:ext>
                  </a:extLst>
                </a:gridCol>
                <a:gridCol w="1193800">
                  <a:extLst>
                    <a:ext uri="{9D8B030D-6E8A-4147-A177-3AD203B41FA5}">
                      <a16:colId xmlns:a16="http://schemas.microsoft.com/office/drawing/2014/main" val="1120120145"/>
                    </a:ext>
                  </a:extLst>
                </a:gridCol>
                <a:gridCol w="1228838">
                  <a:extLst>
                    <a:ext uri="{9D8B030D-6E8A-4147-A177-3AD203B41FA5}">
                      <a16:colId xmlns:a16="http://schemas.microsoft.com/office/drawing/2014/main" val="2189457521"/>
                    </a:ext>
                  </a:extLst>
                </a:gridCol>
              </a:tblGrid>
              <a:tr h="348342">
                <a:tc>
                  <a:txBody>
                    <a:bodyPr/>
                    <a:lstStyle/>
                    <a:p>
                      <a:pPr algn="ctr" fontAlgn="b">
                        <a:buNone/>
                      </a:pPr>
                      <a:r>
                        <a:rPr lang="en-IN" sz="1000" u="none" strike="noStrike" dirty="0">
                          <a:effectLst/>
                        </a:rPr>
                        <a:t>$65,798.3 </a:t>
                      </a:r>
                      <a:endParaRPr lang="en-IN" sz="1000" b="0"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dirty="0">
                          <a:effectLst/>
                        </a:rPr>
                        <a:t>$70,523.6 </a:t>
                      </a:r>
                      <a:endParaRPr lang="en-IN" sz="1000" b="0"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a:effectLst/>
                        </a:rPr>
                        <a:t>$75,248.8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4234565000"/>
                  </a:ext>
                </a:extLst>
              </a:tr>
              <a:tr h="544286">
                <a:tc>
                  <a:txBody>
                    <a:bodyPr/>
                    <a:lstStyle/>
                    <a:p>
                      <a:pPr algn="ctr" fontAlgn="b">
                        <a:buNone/>
                      </a:pPr>
                      <a:r>
                        <a:rPr lang="en-IN" sz="1000" u="none" strike="noStrike" dirty="0">
                          <a:effectLst/>
                        </a:rPr>
                        <a:t>$64,611.6 </a:t>
                      </a:r>
                      <a:endParaRPr lang="en-IN" sz="1000" b="0"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b="1" u="none" strike="noStrike" dirty="0">
                          <a:effectLst/>
                        </a:rPr>
                        <a:t>$69,229.0 </a:t>
                      </a:r>
                      <a:endParaRPr lang="en-IN" sz="1000" b="1"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dirty="0">
                          <a:effectLst/>
                        </a:rPr>
                        <a:t>$73,846.4 </a:t>
                      </a:r>
                      <a:endParaRPr lang="en-IN" sz="1000" b="0" i="0" u="none" strike="noStrike" dirty="0">
                        <a:effectLst/>
                        <a:latin typeface="Arial" panose="020B0604020202020204" pitchFamily="34" charset="0"/>
                      </a:endParaRPr>
                    </a:p>
                  </a:txBody>
                  <a:tcPr marL="9525" marR="9525" marT="9525" marB="0" anchor="b"/>
                </a:tc>
                <a:extLst>
                  <a:ext uri="{0D108BD9-81ED-4DB2-BD59-A6C34878D82A}">
                    <a16:rowId xmlns:a16="http://schemas.microsoft.com/office/drawing/2014/main" val="1453618631"/>
                  </a:ext>
                </a:extLst>
              </a:tr>
              <a:tr h="518904">
                <a:tc>
                  <a:txBody>
                    <a:bodyPr/>
                    <a:lstStyle/>
                    <a:p>
                      <a:pPr algn="ctr" fontAlgn="b">
                        <a:buNone/>
                      </a:pPr>
                      <a:r>
                        <a:rPr lang="en-IN" sz="1000" u="none" strike="noStrike">
                          <a:effectLst/>
                        </a:rPr>
                        <a:t>$63,457.3 </a:t>
                      </a:r>
                      <a:endParaRPr lang="en-IN" sz="1000" b="0" i="0" u="none" strike="noStrike">
                        <a:effectLst/>
                        <a:latin typeface="Arial" panose="020B0604020202020204" pitchFamily="34" charset="0"/>
                      </a:endParaRPr>
                    </a:p>
                  </a:txBody>
                  <a:tcPr marL="9525" marR="9525" marT="9525" marB="0" anchor="b"/>
                </a:tc>
                <a:tc>
                  <a:txBody>
                    <a:bodyPr/>
                    <a:lstStyle/>
                    <a:p>
                      <a:pPr algn="ctr" fontAlgn="b">
                        <a:buNone/>
                      </a:pPr>
                      <a:r>
                        <a:rPr lang="en-IN" sz="1000" u="none" strike="noStrike" dirty="0">
                          <a:effectLst/>
                        </a:rPr>
                        <a:t>$67,969.8 </a:t>
                      </a:r>
                      <a:endParaRPr lang="en-IN" sz="1000" b="0"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dirty="0">
                          <a:effectLst/>
                        </a:rPr>
                        <a:t>$72,482.2 </a:t>
                      </a:r>
                      <a:endParaRPr lang="en-IN" sz="1000" b="0" i="0" u="none" strike="noStrike" dirty="0">
                        <a:effectLst/>
                        <a:latin typeface="Arial" panose="020B0604020202020204" pitchFamily="34" charset="0"/>
                      </a:endParaRPr>
                    </a:p>
                  </a:txBody>
                  <a:tcPr marL="9525" marR="9525" marT="9525" marB="0" anchor="b"/>
                </a:tc>
                <a:extLst>
                  <a:ext uri="{0D108BD9-81ED-4DB2-BD59-A6C34878D82A}">
                    <a16:rowId xmlns:a16="http://schemas.microsoft.com/office/drawing/2014/main" val="1869709803"/>
                  </a:ext>
                </a:extLst>
              </a:tr>
            </a:tbl>
          </a:graphicData>
        </a:graphic>
      </p:graphicFrame>
      <p:graphicFrame>
        <p:nvGraphicFramePr>
          <p:cNvPr id="23" name="Table 22">
            <a:extLst>
              <a:ext uri="{FF2B5EF4-FFF2-40B4-BE49-F238E27FC236}">
                <a16:creationId xmlns:a16="http://schemas.microsoft.com/office/drawing/2014/main" id="{A5E63052-ABFE-163A-4421-2AE1E419F1E7}"/>
              </a:ext>
            </a:extLst>
          </p:cNvPr>
          <p:cNvGraphicFramePr>
            <a:graphicFrameLocks noGrp="1"/>
          </p:cNvGraphicFramePr>
          <p:nvPr>
            <p:extLst>
              <p:ext uri="{D42A27DB-BD31-4B8C-83A1-F6EECF244321}">
                <p14:modId xmlns:p14="http://schemas.microsoft.com/office/powerpoint/2010/main" val="1918111955"/>
              </p:ext>
            </p:extLst>
          </p:nvPr>
        </p:nvGraphicFramePr>
        <p:xfrm>
          <a:off x="4611759" y="4561114"/>
          <a:ext cx="4220466" cy="1407645"/>
        </p:xfrm>
        <a:graphic>
          <a:graphicData uri="http://schemas.openxmlformats.org/drawingml/2006/table">
            <a:tbl>
              <a:tblPr>
                <a:tableStyleId>{5C22544A-7EE6-4342-B048-85BDC9FD1C3A}</a:tableStyleId>
              </a:tblPr>
              <a:tblGrid>
                <a:gridCol w="1406822">
                  <a:extLst>
                    <a:ext uri="{9D8B030D-6E8A-4147-A177-3AD203B41FA5}">
                      <a16:colId xmlns:a16="http://schemas.microsoft.com/office/drawing/2014/main" val="2661095730"/>
                    </a:ext>
                  </a:extLst>
                </a:gridCol>
                <a:gridCol w="1406822">
                  <a:extLst>
                    <a:ext uri="{9D8B030D-6E8A-4147-A177-3AD203B41FA5}">
                      <a16:colId xmlns:a16="http://schemas.microsoft.com/office/drawing/2014/main" val="3292224200"/>
                    </a:ext>
                  </a:extLst>
                </a:gridCol>
                <a:gridCol w="1406822">
                  <a:extLst>
                    <a:ext uri="{9D8B030D-6E8A-4147-A177-3AD203B41FA5}">
                      <a16:colId xmlns:a16="http://schemas.microsoft.com/office/drawing/2014/main" val="3511824980"/>
                    </a:ext>
                  </a:extLst>
                </a:gridCol>
              </a:tblGrid>
              <a:tr h="469215">
                <a:tc>
                  <a:txBody>
                    <a:bodyPr/>
                    <a:lstStyle/>
                    <a:p>
                      <a:pPr algn="ctr" fontAlgn="b">
                        <a:buNone/>
                      </a:pPr>
                      <a:r>
                        <a:rPr lang="en-IN" sz="1000" u="none" strike="noStrike" dirty="0">
                          <a:effectLst/>
                        </a:rPr>
                        <a:t>$75.05 </a:t>
                      </a:r>
                      <a:endParaRPr lang="en-IN" sz="1000" b="0"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dirty="0">
                          <a:effectLst/>
                        </a:rPr>
                        <a:t>$79.77 </a:t>
                      </a:r>
                      <a:endParaRPr lang="en-IN" sz="1000" b="0"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a:effectLst/>
                        </a:rPr>
                        <a:t>$84.50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3431554458"/>
                  </a:ext>
                </a:extLst>
              </a:tr>
              <a:tr h="469215">
                <a:tc>
                  <a:txBody>
                    <a:bodyPr/>
                    <a:lstStyle/>
                    <a:p>
                      <a:pPr algn="ctr" fontAlgn="b">
                        <a:buNone/>
                      </a:pPr>
                      <a:r>
                        <a:rPr lang="en-IN" sz="1000" u="none" strike="noStrike">
                          <a:effectLst/>
                        </a:rPr>
                        <a:t>$73.86 </a:t>
                      </a:r>
                      <a:endParaRPr lang="en-IN" sz="1000" b="0" i="0" u="none" strike="noStrike">
                        <a:effectLst/>
                        <a:latin typeface="Arial" panose="020B0604020202020204" pitchFamily="34" charset="0"/>
                      </a:endParaRPr>
                    </a:p>
                  </a:txBody>
                  <a:tcPr marL="9525" marR="9525" marT="9525" marB="0" anchor="b"/>
                </a:tc>
                <a:tc>
                  <a:txBody>
                    <a:bodyPr/>
                    <a:lstStyle/>
                    <a:p>
                      <a:pPr algn="ctr" fontAlgn="b">
                        <a:buNone/>
                      </a:pPr>
                      <a:r>
                        <a:rPr lang="en-IN" sz="1000" b="1" u="none" strike="noStrike" dirty="0">
                          <a:effectLst/>
                        </a:rPr>
                        <a:t>$78.48 </a:t>
                      </a:r>
                      <a:endParaRPr lang="en-IN" sz="1000" b="1"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a:effectLst/>
                        </a:rPr>
                        <a:t>$83.10 </a:t>
                      </a:r>
                      <a:endParaRPr lang="en-IN" sz="1000" b="0" i="0" u="none" strike="noStrike">
                        <a:effectLst/>
                        <a:latin typeface="Arial" panose="020B0604020202020204" pitchFamily="34" charset="0"/>
                      </a:endParaRPr>
                    </a:p>
                  </a:txBody>
                  <a:tcPr marL="9525" marR="9525" marT="9525" marB="0" anchor="b"/>
                </a:tc>
                <a:extLst>
                  <a:ext uri="{0D108BD9-81ED-4DB2-BD59-A6C34878D82A}">
                    <a16:rowId xmlns:a16="http://schemas.microsoft.com/office/drawing/2014/main" val="2524034103"/>
                  </a:ext>
                </a:extLst>
              </a:tr>
              <a:tr h="469215">
                <a:tc>
                  <a:txBody>
                    <a:bodyPr/>
                    <a:lstStyle/>
                    <a:p>
                      <a:pPr algn="ctr" fontAlgn="b">
                        <a:buNone/>
                      </a:pPr>
                      <a:r>
                        <a:rPr lang="en-IN" sz="1000" u="none" strike="noStrike">
                          <a:effectLst/>
                        </a:rPr>
                        <a:t>$72.71 </a:t>
                      </a:r>
                      <a:endParaRPr lang="en-IN" sz="1000" b="0" i="0" u="none" strike="noStrike">
                        <a:effectLst/>
                        <a:latin typeface="Arial" panose="020B0604020202020204" pitchFamily="34" charset="0"/>
                      </a:endParaRPr>
                    </a:p>
                  </a:txBody>
                  <a:tcPr marL="9525" marR="9525" marT="9525" marB="0" anchor="b"/>
                </a:tc>
                <a:tc>
                  <a:txBody>
                    <a:bodyPr/>
                    <a:lstStyle/>
                    <a:p>
                      <a:pPr algn="ctr" fontAlgn="b">
                        <a:buNone/>
                      </a:pPr>
                      <a:r>
                        <a:rPr lang="en-IN" sz="1000" u="none" strike="noStrike" dirty="0">
                          <a:effectLst/>
                        </a:rPr>
                        <a:t>$77.22 </a:t>
                      </a:r>
                      <a:endParaRPr lang="en-IN" sz="1000" b="0" i="0" u="none" strike="noStrike" dirty="0">
                        <a:effectLst/>
                        <a:latin typeface="Arial" panose="020B0604020202020204" pitchFamily="34" charset="0"/>
                      </a:endParaRPr>
                    </a:p>
                  </a:txBody>
                  <a:tcPr marL="9525" marR="9525" marT="9525" marB="0" anchor="b"/>
                </a:tc>
                <a:tc>
                  <a:txBody>
                    <a:bodyPr/>
                    <a:lstStyle/>
                    <a:p>
                      <a:pPr algn="ctr" fontAlgn="b">
                        <a:buNone/>
                      </a:pPr>
                      <a:r>
                        <a:rPr lang="en-IN" sz="1000" u="none" strike="noStrike" dirty="0">
                          <a:effectLst/>
                        </a:rPr>
                        <a:t>$81.73 </a:t>
                      </a:r>
                      <a:endParaRPr lang="en-IN" sz="1000" b="0" i="0" u="none" strike="noStrike" dirty="0">
                        <a:effectLst/>
                        <a:latin typeface="Arial" panose="020B0604020202020204" pitchFamily="34" charset="0"/>
                      </a:endParaRPr>
                    </a:p>
                  </a:txBody>
                  <a:tcPr marL="9525" marR="9525" marT="9525" marB="0" anchor="b"/>
                </a:tc>
                <a:extLst>
                  <a:ext uri="{0D108BD9-81ED-4DB2-BD59-A6C34878D82A}">
                    <a16:rowId xmlns:a16="http://schemas.microsoft.com/office/drawing/2014/main" val="322282962"/>
                  </a:ext>
                </a:extLst>
              </a:tr>
            </a:tbl>
          </a:graphicData>
        </a:graphic>
      </p:graphicFrame>
    </p:spTree>
    <p:extLst>
      <p:ext uri="{BB962C8B-B14F-4D97-AF65-F5344CB8AC3E}">
        <p14:creationId xmlns:p14="http://schemas.microsoft.com/office/powerpoint/2010/main" val="3644007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FFF00"/>
        </a:solidFill>
        <a:ln w="19050" cap="rnd" cmpd="sng">
          <a:solidFill>
            <a:schemeClr val="tx1"/>
          </a:solidFill>
          <a:prstDash val="solid"/>
          <a:round/>
          <a:headEnd type="none" w="med" len="med"/>
          <a:tailEnd type="none" w="med" len="med"/>
        </a:ln>
        <a:effectLst/>
      </a:spPr>
      <a:bodyPr rtlCol="0" anchor="ctr"/>
      <a:lstStyle>
        <a:defPPr algn="ctr">
          <a:defRPr dirty="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80235</TotalTime>
  <Words>412</Words>
  <Application>Microsoft Macintosh PowerPoint</Application>
  <PresentationFormat>Letter Paper (8.5x11 in)</PresentationFormat>
  <Paragraphs>81</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Cambria</vt:lpstr>
      <vt:lpstr>Courier New</vt:lpstr>
      <vt:lpstr>Wingdings</vt:lpstr>
      <vt:lpstr>Wingdings 3</vt:lpstr>
      <vt:lpstr>USE THIS</vt:lpstr>
      <vt:lpstr>Nintendo | Company profile</vt:lpstr>
      <vt:lpstr>Nintendo | Discounted Cash Flow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JP &amp; WW</dc:creator>
  <cp:lastModifiedBy>Naishal Hitendrabhai PARMAR</cp:lastModifiedBy>
  <cp:revision>1461</cp:revision>
  <cp:lastPrinted>2017-04-11T02:39:08Z</cp:lastPrinted>
  <dcterms:created xsi:type="dcterms:W3CDTF">2015-08-12T15:22:50Z</dcterms:created>
  <dcterms:modified xsi:type="dcterms:W3CDTF">2026-02-14T23:49:05Z</dcterms:modified>
</cp:coreProperties>
</file>